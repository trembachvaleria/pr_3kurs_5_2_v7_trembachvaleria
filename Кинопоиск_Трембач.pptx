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26200"/>
    <a:srgbClr val="FF6A0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34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17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968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1731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14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86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32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3224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6362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83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400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0C58A3F-2F76-4FD9-AA63-1AD21C29CB50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368778D-8AA5-46E8-A80C-8E549B7C69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1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2F24E-C92D-45DE-B417-958174E51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100" y="1622136"/>
            <a:ext cx="9068586" cy="2590800"/>
          </a:xfrm>
        </p:spPr>
        <p:txBody>
          <a:bodyPr/>
          <a:lstStyle/>
          <a:p>
            <a:r>
              <a:rPr lang="en-US" sz="5400" spc="-414" dirty="0" err="1">
                <a:solidFill>
                  <a:schemeClr val="bg2">
                    <a:lumMod val="50000"/>
                  </a:schemeClr>
                </a:solidFill>
                <a:latin typeface="Alegreya Sans SC Bold"/>
              </a:rPr>
              <a:t>Разработка</a:t>
            </a:r>
            <a:r>
              <a:rPr lang="en-US" sz="5400" spc="-414" dirty="0">
                <a:solidFill>
                  <a:schemeClr val="bg2">
                    <a:lumMod val="50000"/>
                  </a:schemeClr>
                </a:solidFill>
                <a:latin typeface="Alegreya Sans SC Bold"/>
              </a:rPr>
              <a:t> </a:t>
            </a:r>
            <a:r>
              <a:rPr lang="ru-RU" sz="5400" spc="-414" dirty="0">
                <a:solidFill>
                  <a:schemeClr val="bg2">
                    <a:lumMod val="50000"/>
                  </a:schemeClr>
                </a:solidFill>
                <a:latin typeface="Alegreya Sans SC Bold"/>
              </a:rPr>
              <a:t>Приложения «</a:t>
            </a:r>
            <a:r>
              <a:rPr lang="ru-RU" sz="5400" spc="-414" dirty="0" err="1">
                <a:solidFill>
                  <a:schemeClr val="bg2">
                    <a:lumMod val="50000"/>
                  </a:schemeClr>
                </a:solidFill>
                <a:latin typeface="Alegreya Sans SC Bold"/>
              </a:rPr>
              <a:t>Кинопоиск</a:t>
            </a:r>
            <a:r>
              <a:rPr lang="ru-RU" sz="5400" spc="-414" dirty="0">
                <a:solidFill>
                  <a:schemeClr val="bg2">
                    <a:lumMod val="50000"/>
                  </a:schemeClr>
                </a:solidFill>
                <a:latin typeface="Alegreya Sans SC Bold"/>
              </a:rPr>
              <a:t>»</a:t>
            </a:r>
            <a:endParaRPr lang="ru-RU" sz="5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40B332-531E-429D-A084-0450AF68B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4212935"/>
            <a:ext cx="4298012" cy="1199893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1900" b="1" spc="0" dirty="0" err="1">
                <a:solidFill>
                  <a:schemeClr val="accent1">
                    <a:lumMod val="50000"/>
                  </a:schemeClr>
                </a:solidFill>
                <a:latin typeface="Trocchi"/>
              </a:rPr>
              <a:t>Работу</a:t>
            </a:r>
            <a:r>
              <a:rPr lang="en-US" sz="1900" b="1" spc="0" dirty="0">
                <a:solidFill>
                  <a:schemeClr val="accent1">
                    <a:lumMod val="50000"/>
                  </a:schemeClr>
                </a:solidFill>
                <a:latin typeface="Trocchi"/>
              </a:rPr>
              <a:t> </a:t>
            </a:r>
            <a:r>
              <a:rPr lang="en-US" sz="1900" b="1" spc="0" dirty="0" err="1">
                <a:solidFill>
                  <a:schemeClr val="accent1">
                    <a:lumMod val="50000"/>
                  </a:schemeClr>
                </a:solidFill>
                <a:latin typeface="Trocchi"/>
              </a:rPr>
              <a:t>выполнил</a:t>
            </a:r>
            <a:r>
              <a:rPr lang="ru-RU" sz="1900" b="1" spc="0" dirty="0">
                <a:solidFill>
                  <a:schemeClr val="accent1">
                    <a:lumMod val="50000"/>
                  </a:schemeClr>
                </a:solidFill>
                <a:latin typeface="Trocchi"/>
              </a:rPr>
              <a:t>а</a:t>
            </a:r>
            <a:r>
              <a:rPr lang="en-US" sz="1900" b="1" spc="0" dirty="0">
                <a:solidFill>
                  <a:schemeClr val="accent1">
                    <a:lumMod val="50000"/>
                  </a:schemeClr>
                </a:solidFill>
                <a:latin typeface="Trocchi"/>
              </a:rPr>
              <a:t>: </a:t>
            </a:r>
            <a:r>
              <a:rPr lang="ru-RU" sz="1900" spc="0" dirty="0">
                <a:solidFill>
                  <a:schemeClr val="accent1">
                    <a:lumMod val="50000"/>
                  </a:schemeClr>
                </a:solidFill>
                <a:latin typeface="Trocchi"/>
              </a:rPr>
              <a:t>Трембач В.Е.</a:t>
            </a:r>
            <a:endParaRPr lang="en-US" sz="1900" spc="0" dirty="0">
              <a:solidFill>
                <a:schemeClr val="accent1">
                  <a:lumMod val="50000"/>
                </a:schemeClr>
              </a:solidFill>
              <a:latin typeface="Trocchi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1900" b="1" spc="0" dirty="0" err="1">
                <a:solidFill>
                  <a:schemeClr val="accent1">
                    <a:lumMod val="50000"/>
                  </a:schemeClr>
                </a:solidFill>
                <a:latin typeface="Trocchi"/>
              </a:rPr>
              <a:t>Руководитель</a:t>
            </a:r>
            <a:r>
              <a:rPr lang="en-US" sz="1900" b="1" spc="0" dirty="0">
                <a:solidFill>
                  <a:schemeClr val="accent1">
                    <a:lumMod val="50000"/>
                  </a:schemeClr>
                </a:solidFill>
                <a:latin typeface="Trocchi"/>
              </a:rPr>
              <a:t>: </a:t>
            </a:r>
            <a:r>
              <a:rPr lang="ru-RU" sz="1900" spc="0" dirty="0">
                <a:solidFill>
                  <a:schemeClr val="accent1">
                    <a:lumMod val="50000"/>
                  </a:schemeClr>
                </a:solidFill>
                <a:latin typeface="Trocchi"/>
              </a:rPr>
              <a:t>Мирошниченко Г.В.</a:t>
            </a:r>
            <a:endParaRPr lang="en-US" sz="1900" spc="0" dirty="0">
              <a:solidFill>
                <a:schemeClr val="accent1">
                  <a:lumMod val="50000"/>
                </a:schemeClr>
              </a:solidFill>
              <a:latin typeface="Trocchi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1900" b="1" spc="0" dirty="0" err="1">
                <a:solidFill>
                  <a:schemeClr val="accent1">
                    <a:lumMod val="50000"/>
                  </a:schemeClr>
                </a:solidFill>
                <a:latin typeface="Trocchi"/>
              </a:rPr>
              <a:t>Группа</a:t>
            </a:r>
            <a:r>
              <a:rPr lang="en-US" sz="1900" b="1" spc="0" dirty="0">
                <a:solidFill>
                  <a:schemeClr val="accent1">
                    <a:lumMod val="50000"/>
                  </a:schemeClr>
                </a:solidFill>
                <a:latin typeface="Trocchi"/>
              </a:rPr>
              <a:t>: </a:t>
            </a:r>
            <a:r>
              <a:rPr lang="en-US" sz="1900" spc="0" dirty="0">
                <a:solidFill>
                  <a:schemeClr val="accent1">
                    <a:lumMod val="50000"/>
                  </a:schemeClr>
                </a:solidFill>
                <a:latin typeface="Trocchi"/>
              </a:rPr>
              <a:t>Пр-31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3490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24E3E-1503-4B61-9F29-3B0095CC1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995375"/>
          </a:xfrm>
        </p:spPr>
        <p:txBody>
          <a:bodyPr/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О разработке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5A8532-3023-47AC-ADBB-035B0B5E2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37969"/>
            <a:ext cx="5906494" cy="4397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Программа представляет собой мобильное приложение для поиска информации о фильмах через открытый API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</a:rPr>
              <a:t>Кинопоиска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. Продукт позволяет пользователям находить фильмы, просматривать данные о режиссёрах и актёрах, а также формировать личный список избранного, который сохраняется в базе данных устройства.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857D63-5257-4807-8063-C857314E2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830" y="1910334"/>
            <a:ext cx="3852340" cy="385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2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F26200"/>
            </a:gs>
            <a:gs pos="100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1F5C3-BCAA-40DC-BFD8-01A29B04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52F5BE-9841-479D-BB9C-DE71E2D80A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Цель: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Разработка мобильного приложения для поиска фильмов с возможностью сохранения личной подборки.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589753-48A7-4C5D-9206-0626EE9123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Задачи: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200" dirty="0">
                <a:solidFill>
                  <a:schemeClr val="accent2">
                    <a:lumMod val="50000"/>
                  </a:schemeClr>
                </a:solidFill>
              </a:rPr>
              <a:t>Изучить работу с API и форматом JSON.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200" dirty="0">
                <a:solidFill>
                  <a:schemeClr val="accent2">
                    <a:lumMod val="50000"/>
                  </a:schemeClr>
                </a:solidFill>
              </a:rPr>
              <a:t>Реализовать систему авторизации пользователей.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200" dirty="0">
                <a:solidFill>
                  <a:schemeClr val="accent2">
                    <a:lumMod val="50000"/>
                  </a:schemeClr>
                </a:solidFill>
              </a:rPr>
              <a:t>Освоить локальное хранение данных (</a:t>
            </a:r>
            <a:r>
              <a:rPr lang="ru-RU" sz="2200" dirty="0" err="1">
                <a:solidFill>
                  <a:schemeClr val="accent2">
                    <a:lumMod val="50000"/>
                  </a:schemeClr>
                </a:solidFill>
              </a:rPr>
              <a:t>Room</a:t>
            </a:r>
            <a:r>
              <a:rPr lang="ru-RU" sz="2200" dirty="0">
                <a:solidFill>
                  <a:schemeClr val="accent2">
                    <a:lumMod val="50000"/>
                  </a:schemeClr>
                </a:solidFill>
              </a:rPr>
              <a:t>) и настройки (</a:t>
            </a:r>
            <a:r>
              <a:rPr lang="ru-RU" sz="2200" dirty="0" err="1">
                <a:solidFill>
                  <a:schemeClr val="accent2">
                    <a:lumMod val="50000"/>
                  </a:schemeClr>
                </a:solidFill>
              </a:rPr>
              <a:t>SharedPreferences</a:t>
            </a:r>
            <a:r>
              <a:rPr lang="ru-RU" sz="2200" dirty="0">
                <a:solidFill>
                  <a:schemeClr val="accent2">
                    <a:lumMod val="50000"/>
                  </a:schemeClr>
                </a:solidFill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200" dirty="0">
                <a:solidFill>
                  <a:schemeClr val="accent2">
                    <a:lumMod val="50000"/>
                  </a:schemeClr>
                </a:solidFill>
              </a:rPr>
              <a:t>Спроектировать удобный и лаконичный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304858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5A0C7-5CB6-4488-86AC-E5DE9489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Используемые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25574E-2590-4E47-A0E3-9F80497AC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Язык программирования: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Kotlin.</a:t>
            </a:r>
          </a:p>
          <a:p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Среда разработки: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Android Studio.</a:t>
            </a:r>
          </a:p>
          <a:p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Сетевые запросы: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Volley.</a:t>
            </a:r>
          </a:p>
          <a:p>
            <a:r>
              <a:rPr lang="ru-RU" sz="2800" dirty="0" err="1">
                <a:solidFill>
                  <a:schemeClr val="accent2">
                    <a:lumMod val="50000"/>
                  </a:schemeClr>
                </a:solidFill>
              </a:rPr>
              <a:t>Парсинг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 данных: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</a:rPr>
              <a:t>Gson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Локальная база данных: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Room (SQLite).</a:t>
            </a:r>
            <a:endParaRPr lang="ru-RU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997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6A950-540A-4FDE-8871-2B47AD0A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30534"/>
            <a:ext cx="5575738" cy="899959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Экран авторизации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3B76D1-9DC5-4CD5-B8F7-A21794E8001D}"/>
              </a:ext>
            </a:extLst>
          </p:cNvPr>
          <p:cNvSpPr txBox="1"/>
          <p:nvPr/>
        </p:nvSpPr>
        <p:spPr>
          <a:xfrm>
            <a:off x="1066800" y="1230493"/>
            <a:ext cx="5029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Приложение требует входа в систему. Данные пользователя (логин и пароль) сохраняются локально в формате JSON с помощью </a:t>
            </a:r>
            <a:r>
              <a:rPr lang="ru-RU" sz="2400" dirty="0" err="1">
                <a:solidFill>
                  <a:schemeClr val="bg1"/>
                </a:solidFill>
              </a:rPr>
              <a:t>SharedPreferences</a:t>
            </a:r>
            <a:r>
              <a:rPr lang="ru-RU" sz="2400" dirty="0">
                <a:solidFill>
                  <a:schemeClr val="bg1"/>
                </a:solidFill>
              </a:rPr>
              <a:t>. Это позволяет разделять списки избранного для разных пользователей.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BB8C61-1E59-4E4A-AD20-C0347F45B0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2"/>
          <a:stretch/>
        </p:blipFill>
        <p:spPr>
          <a:xfrm>
            <a:off x="7002949" y="691763"/>
            <a:ext cx="3695282" cy="574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53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AA570-093B-4F18-BC93-FD8D804F6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337794"/>
            <a:ext cx="5712371" cy="892008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Главное окно поиска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FDDA5D-DA5C-4DDF-B7C0-654DD37D3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29802"/>
            <a:ext cx="5029200" cy="27220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Главный экран позволяет искать фильмы по названию. Программа отправляет запрос к API </a:t>
            </a:r>
            <a:r>
              <a:rPr lang="ru-RU" sz="2400" dirty="0" err="1">
                <a:solidFill>
                  <a:schemeClr val="bg1"/>
                </a:solidFill>
              </a:rPr>
              <a:t>Кинопоиска</a:t>
            </a:r>
            <a:r>
              <a:rPr lang="ru-RU" sz="2400" dirty="0">
                <a:solidFill>
                  <a:schemeClr val="bg1"/>
                </a:solidFill>
              </a:rPr>
              <a:t>, получает JSON-ответ, извлекает название, год, режиссёра и актёров.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3434A4-5E5B-42E0-B17D-93F48A9667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5"/>
          <a:stretch/>
        </p:blipFill>
        <p:spPr>
          <a:xfrm>
            <a:off x="7036904" y="647331"/>
            <a:ext cx="3721211" cy="577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AA570-093B-4F18-BC93-FD8D804F6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25820"/>
            <a:ext cx="5029200" cy="892008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Избранное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FDDA5D-DA5C-4DDF-B7C0-654DD37D3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26968"/>
            <a:ext cx="5029200" cy="30402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Сохранение фильмов происходит в локальную базу данных. Каждый пользователь видит только свои сохранённые фильмы. Реализована функция удаления с подтверждением действия.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58CF33-CABF-4B19-904B-587CD7E163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2"/>
          <a:stretch/>
        </p:blipFill>
        <p:spPr>
          <a:xfrm>
            <a:off x="6914439" y="596348"/>
            <a:ext cx="3763612" cy="584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18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8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6A950-540A-4FDE-8871-2B47AD0A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899959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accent1">
                    <a:lumMod val="50000"/>
                  </a:schemeClr>
                </a:solidFill>
              </a:rPr>
              <a:t>Перспективы развития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3B76D1-9DC5-4CD5-B8F7-A21794E8001D}"/>
              </a:ext>
            </a:extLst>
          </p:cNvPr>
          <p:cNvSpPr txBox="1"/>
          <p:nvPr/>
        </p:nvSpPr>
        <p:spPr>
          <a:xfrm>
            <a:off x="1066799" y="1542553"/>
            <a:ext cx="75201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Добавление возможности просмотра трейлеров фильмов.</a:t>
            </a:r>
          </a:p>
          <a:p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Синхронизация избранного через облако для доступа с разных устройств.</a:t>
            </a:r>
          </a:p>
          <a:p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Расширение базы данных (добавление рейтингов и отзывов).</a:t>
            </a:r>
          </a:p>
        </p:txBody>
      </p:sp>
    </p:spTree>
    <p:extLst>
      <p:ext uri="{BB962C8B-B14F-4D97-AF65-F5344CB8AC3E}">
        <p14:creationId xmlns:p14="http://schemas.microsoft.com/office/powerpoint/2010/main" val="1086719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F26200"/>
            </a:gs>
            <a:gs pos="100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1F5C3-BCAA-40DC-BFD8-01A29B04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Итоги: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52F5BE-9841-479D-BB9C-DE71E2D80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014194"/>
            <a:ext cx="10058400" cy="3837966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Разработано полноценное мобильное приложение на языке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</a:rPr>
              <a:t>Kotlin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Освоена работа с API и форматом JSON.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Реализована локальная база данных на базе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</a:rPr>
              <a:t>Room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 для хранения избранного.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Реализована система авторизации и защиты личных данных пользователей.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Приложение успешно протестировано и готово к использованию.</a:t>
            </a:r>
          </a:p>
        </p:txBody>
      </p:sp>
    </p:spTree>
    <p:extLst>
      <p:ext uri="{BB962C8B-B14F-4D97-AF65-F5344CB8AC3E}">
        <p14:creationId xmlns:p14="http://schemas.microsoft.com/office/powerpoint/2010/main" val="2424449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Другая 7">
      <a:dk1>
        <a:srgbClr val="000000"/>
      </a:dk1>
      <a:lt1>
        <a:sysClr val="window" lastClr="FFFFFF"/>
      </a:lt1>
      <a:dk2>
        <a:srgbClr val="637052"/>
      </a:dk2>
      <a:lt2>
        <a:srgbClr val="F25100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Савон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аво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162</TotalTime>
  <Words>309</Words>
  <Application>Microsoft Office PowerPoint</Application>
  <PresentationFormat>Широкоэкранный</PresentationFormat>
  <Paragraphs>38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Alegreya Sans SC Bold</vt:lpstr>
      <vt:lpstr>Century Gothic</vt:lpstr>
      <vt:lpstr>Courier New</vt:lpstr>
      <vt:lpstr>Garamond</vt:lpstr>
      <vt:lpstr>Trocchi</vt:lpstr>
      <vt:lpstr>Савон</vt:lpstr>
      <vt:lpstr>Разработка Приложения «Кинопоиск»</vt:lpstr>
      <vt:lpstr>О разработке</vt:lpstr>
      <vt:lpstr>Цели и задачи</vt:lpstr>
      <vt:lpstr>Используемые технологии</vt:lpstr>
      <vt:lpstr>Экран авторизации</vt:lpstr>
      <vt:lpstr>Главное окно поиска</vt:lpstr>
      <vt:lpstr>Избранное</vt:lpstr>
      <vt:lpstr>Перспективы развития</vt:lpstr>
      <vt:lpstr>Итоги: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 создание программы «Кинопоиск»</dc:title>
  <dc:creator>Валерия</dc:creator>
  <cp:lastModifiedBy>Валерия</cp:lastModifiedBy>
  <cp:revision>17</cp:revision>
  <dcterms:created xsi:type="dcterms:W3CDTF">2026-10-26T10:45:56Z</dcterms:created>
  <dcterms:modified xsi:type="dcterms:W3CDTF">2026-10-27T08:44:51Z</dcterms:modified>
</cp:coreProperties>
</file>